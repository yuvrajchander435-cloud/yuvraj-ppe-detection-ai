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B4F72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B4F72"/>
                </a:solidFill>
                <a:latin typeface="Arial" panose="020B0604020202020204"/>
              </a:rPr>
              <a:t>Per-Class Precision &amp; Recall</a:t>
            </a:r>
            <a:endParaRPr sz="1300" b="0" i="0" u="none" strike="noStrike">
              <a:solidFill>
                <a:srgbClr val="1B4F72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1C28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Helmet</c:v>
                </c:pt>
                <c:pt idx="1">
                  <c:v>No-Helmet</c:v>
                </c:pt>
                <c:pt idx="2">
                  <c:v>Vest</c:v>
                </c:pt>
                <c:pt idx="3">
                  <c:v>No-Vest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</c:v>
                </c:pt>
                <c:pt idx="1">
                  <c:v>0.83</c:v>
                </c:pt>
                <c:pt idx="2">
                  <c:v>0.85</c:v>
                </c:pt>
                <c:pt idx="3">
                  <c:v>0.88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1C28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Helmet</c:v>
                </c:pt>
                <c:pt idx="1">
                  <c:v>No-Helmet</c:v>
                </c:pt>
                <c:pt idx="2">
                  <c:v>Vest</c:v>
                </c:pt>
                <c:pt idx="3">
                  <c:v>No-Vest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</c:v>
                </c:pt>
                <c:pt idx="1">
                  <c:v>0.81</c:v>
                </c:pt>
                <c:pt idx="2">
                  <c:v>0.8</c:v>
                </c:pt>
                <c:pt idx="3">
                  <c:v>0.87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 cmpd="sng" algn="ctr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84f2feb-fb34-4d76-94ba-7d914ec587f7}"/>
      </c:ext>
    </c:extLst>
  </c:chart>
  <c:spPr>
    <a:solidFill>
      <a:srgbClr val="F8FBFD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320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B.Voc (SD) – Sem VI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Dissertation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PPE DETECTION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AI/ML-Based Personal Protective Equipment Detection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7772400" cy="0"/>
          </a:xfrm>
          <a:prstGeom prst="line">
            <a:avLst/>
          </a:prstGeom>
          <a:noFill/>
          <a:ln w="19050">
            <a:solidFill>
              <a:srgbClr val="117A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Guide: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Daljit Kaur</a:t>
            </a:r>
            <a:r>
              <a:rPr lang="en-US" sz="1100" i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Assistant Professor, PG Dept. of C</a:t>
            </a:r>
            <a:r>
              <a:rPr lang="en-IN" altLang="en-US" sz="1100" i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omputer </a:t>
            </a:r>
            <a:r>
              <a:rPr lang="en-US" sz="1100" i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lang="en-IN" altLang="en-US" sz="1100" i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cience</a:t>
            </a:r>
            <a:r>
              <a:rPr lang="en-US" sz="1100" i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&amp;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Yuvraj</a:t>
            </a:r>
            <a:r>
              <a:rPr lang="en-US" sz="1100" i="1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Roll No: 11842326902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Guru Nanak Dev University, Amritsar  |  </a:t>
            </a:r>
            <a:r>
              <a:rPr lang="en-US" sz="1050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Lyallpur Khalsa College, Jalandhar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5/5/2026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3520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of Project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8308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3520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Organization's Profile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6032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6032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3520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Used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33756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3756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337560"/>
            <a:ext cx="3520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148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11480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1480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114800"/>
            <a:ext cx="3520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Tools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005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00584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0584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1005840"/>
            <a:ext cx="3520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Development (YOLOv8)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7830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78308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78308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1783080"/>
            <a:ext cx="3520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Performance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25603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56032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56032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94960" y="2560320"/>
            <a:ext cx="3520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&amp; Challenges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33375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33756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33756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3337560"/>
            <a:ext cx="3520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of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PPE Detection?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2120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identifies whether individuals are wearing essential safety gear (helmets, gloves, vests, masks).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using YOLOv8 (You Only Look Once) – a real-time deep learning object detection algorithm.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on labeled datasets covering PPE and non-PPE scenarios in construction &amp; industrial environments.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manual supervision and ensures consistent enforcement of safety protocols.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146304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0" y="10972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0" y="161848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Algorithm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52360" y="1051560"/>
            <a:ext cx="146304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52360" y="10972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2360" y="161848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mAP@0.5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2194560"/>
            <a:ext cx="146304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2402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276148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Helmet Precision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52360" y="2194560"/>
            <a:ext cx="146304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22402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52360" y="276148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Training Epochs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Key PPE Items Detected: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315968"/>
            <a:ext cx="1965960" cy="347472"/>
          </a:xfrm>
          <a:prstGeom prst="rect">
            <a:avLst/>
          </a:prstGeom>
          <a:solidFill>
            <a:srgbClr val="EAF2F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1596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4F72"/>
                </a:solidFill>
              </a:rPr>
              <a:t>⛑ Helmet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4600" y="4315968"/>
            <a:ext cx="1965960" cy="347472"/>
          </a:xfrm>
          <a:prstGeom prst="rect">
            <a:avLst/>
          </a:prstGeom>
          <a:solidFill>
            <a:srgbClr val="EAF2F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431596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4F72"/>
                </a:solidFill>
              </a:rPr>
              <a:t>🦺 Safety Vest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315968"/>
            <a:ext cx="1965960" cy="347472"/>
          </a:xfrm>
          <a:prstGeom prst="rect">
            <a:avLst/>
          </a:prstGeom>
          <a:solidFill>
            <a:srgbClr val="EAF2F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31596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4F72"/>
                </a:solidFill>
              </a:rPr>
              <a:t>🧤 Gloves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4315968"/>
            <a:ext cx="1965960" cy="347472"/>
          </a:xfrm>
          <a:prstGeom prst="rect">
            <a:avLst/>
          </a:prstGeom>
          <a:solidFill>
            <a:srgbClr val="EAF2F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31596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4F72"/>
                </a:solidFill>
              </a:rPr>
              <a:t>👟 Safety Boots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Organization's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</a:rPr>
              <a:t>O7 Services – An IT Company with Learning Hub  |  ISO 9001:2015 Certified  |  Est. 2015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O7 Services is an ISO 9001:2015 Certified IT company founded in 2015, headquartered in Jalandhar with a branch in Hoshiarpur. It offers end-to-end IT solutions — from consulting, system development, deployment and quality assurance to 24×7 support — across Web, Mobile, AI/ML, Cloud, Cyber Security and more.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542032"/>
            <a:ext cx="2697480" cy="868680"/>
          </a:xfrm>
          <a:prstGeom prst="rect">
            <a:avLst/>
          </a:prstGeom>
          <a:solidFill>
            <a:srgbClr val="EAF2FB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542032"/>
            <a:ext cx="2697480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42032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&amp; Mobile Dev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816352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MEAN/MERN, Flutter, Swift iOS, React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2542032"/>
            <a:ext cx="2697480" cy="868680"/>
          </a:xfrm>
          <a:prstGeom prst="rect">
            <a:avLst/>
          </a:prstGeom>
          <a:solidFill>
            <a:srgbClr val="EAF2FB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2542032"/>
            <a:ext cx="2697480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2542032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AI/ML &amp; Data Science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8688" y="2816352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Python, Machine Learning, Deep Learning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2542032"/>
            <a:ext cx="2697480" cy="868680"/>
          </a:xfrm>
          <a:prstGeom prst="rect">
            <a:avLst/>
          </a:prstGeom>
          <a:solidFill>
            <a:srgbClr val="EAF2FB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2542032"/>
            <a:ext cx="2697480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2542032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 &amp; DevOps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71616" y="2816352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Cloud Computing, Blockchain, DevOps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2697480" cy="868680"/>
          </a:xfrm>
          <a:prstGeom prst="rect">
            <a:avLst/>
          </a:prstGeom>
          <a:solidFill>
            <a:srgbClr val="EAF2FB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9584"/>
            <a:ext cx="2697480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9584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Training Programs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803904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6-Week / 6-Month industrial training + corporate courses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18688" y="3529584"/>
            <a:ext cx="2697480" cy="868680"/>
          </a:xfrm>
          <a:prstGeom prst="rect">
            <a:avLst/>
          </a:prstGeom>
          <a:solidFill>
            <a:srgbClr val="EAF2FB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8688" y="3529584"/>
            <a:ext cx="2697480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3529584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Cyber Security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18688" y="3803904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CCNA, CCNP, Network Security, MCSE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71616" y="3529584"/>
            <a:ext cx="2697480" cy="868680"/>
          </a:xfrm>
          <a:prstGeom prst="rect">
            <a:avLst/>
          </a:prstGeom>
          <a:solidFill>
            <a:srgbClr val="EAF2FB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3529584"/>
            <a:ext cx="2697480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3529584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71616" y="3803904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ERP, School/Hospital Mgmt, Vehicle Tracking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/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380744"/>
            <a:ext cx="24688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(Ultralytics)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+ CUDA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7A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9748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60120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Programming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380744"/>
            <a:ext cx="24688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3.8+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 / Pandas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69748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960120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Annotation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0488" y="1380744"/>
            <a:ext cx="24688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LabelImg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TXT Format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84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80360"/>
            <a:ext cx="2697480" cy="3840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80360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Hardware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3300984"/>
            <a:ext cx="24688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RTX GPU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GB+ VRAM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GB 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697480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880360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Dev Tools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300984"/>
            <a:ext cx="24688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Code / Jupyter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Ubuntu Linux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venv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88036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922B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880360"/>
            <a:ext cx="2697480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880360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Metrics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0488" y="3300984"/>
            <a:ext cx="24688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mAP, Precision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Recall, F1-Score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IoU, Confidence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 &amp;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417320" cy="1143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417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📷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Image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Input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783080" y="1527048"/>
            <a:ext cx="274320" cy="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960120"/>
            <a:ext cx="1417320" cy="1143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960120"/>
            <a:ext cx="1417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⚙️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Pre-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processing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527048"/>
            <a:ext cx="274320" cy="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960120"/>
            <a:ext cx="1417320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960120"/>
            <a:ext cx="1417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🧠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YOLO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66360" y="1527048"/>
            <a:ext cx="274320" cy="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960120"/>
            <a:ext cx="1417320" cy="1143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0680" y="960120"/>
            <a:ext cx="1417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✅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Detection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Output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0" y="1527048"/>
            <a:ext cx="274320" cy="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960120"/>
            <a:ext cx="1417320" cy="1143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960120"/>
            <a:ext cx="14173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🔔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Alert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Log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228600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</a:rPr>
              <a:t>Methodology Steps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206240" cy="356616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743200"/>
            <a:ext cx="4059936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1. Data Collection – Kaggle/Roboflow construction PPE datasets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72968"/>
            <a:ext cx="4206240" cy="356616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172968"/>
            <a:ext cx="4059936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2. Annotation – LabelImg bounding boxes in YOLO TXT format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602736"/>
            <a:ext cx="4206240" cy="356616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602736"/>
            <a:ext cx="4059936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3. Preprocessing – Resize to 640×640, normalize, augment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032504"/>
            <a:ext cx="4206240" cy="356616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032504"/>
            <a:ext cx="4059936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4. Model Config – YOLOv8s, 50 epochs, batch 16, LR 0.01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4206240" cy="356616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743200"/>
            <a:ext cx="4059936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5. Training – Transfer learning from pre-trained weights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172968"/>
            <a:ext cx="4206240" cy="356616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172968"/>
            <a:ext cx="4059936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6. Testing – Precision, Recall, F1, mAP on test set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602736"/>
            <a:ext cx="4206240" cy="356616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602736"/>
            <a:ext cx="4059936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7. Output – Bounding boxes overlay on images/video frames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566160"/>
          </a:xfrm>
          <a:prstGeom prst="rect">
            <a:avLst/>
          </a:prstGeom>
          <a:solidFill>
            <a:srgbClr val="EAF2FB"/>
          </a:solidFill>
          <a:ln w="1905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📦  Dataset Description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32588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01952" y="1417320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Ultralytics Construction-PPE (178 MB)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792224"/>
            <a:ext cx="132588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9222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 Images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01952" y="1792224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1,736 annotated images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167128"/>
            <a:ext cx="132588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6712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01952" y="2167128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433 images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542032"/>
            <a:ext cx="132588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4203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Split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01952" y="2542032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10% of total dataset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916936"/>
            <a:ext cx="132588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16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Classes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01952" y="291693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helmet, no_helmet, vest, no_vest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132588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9184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01952" y="3291840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YOLO TXT (normalized bbox)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666744"/>
            <a:ext cx="132588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6674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Split Ratio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01952" y="3666744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80% Train / 10% Val / 10% Test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041648"/>
            <a:ext cx="132588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4164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Environments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01952" y="4041648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Indoor, Outdoor, Construction Sites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960120"/>
            <a:ext cx="4114800" cy="3566160"/>
          </a:xfrm>
          <a:prstGeom prst="rect">
            <a:avLst/>
          </a:prstGeom>
          <a:solidFill>
            <a:srgbClr val="EAF2FB"/>
          </a:solidFill>
          <a:ln w="19050">
            <a:solidFill>
              <a:srgbClr val="117A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🛠  Key Tools &amp; Libraries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00600" y="1417320"/>
            <a:ext cx="1508760" cy="31089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417320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YOLOv8 (Ultralytics)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82512" y="141732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Object detection framework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1792224"/>
            <a:ext cx="1508760" cy="31089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7922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Python 3.8+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82512" y="1792224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Primary programming language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167128"/>
            <a:ext cx="1508760" cy="31089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167128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OpenCV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82512" y="216712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Image read, resize, draw bounding boxes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2542032"/>
            <a:ext cx="1508760" cy="31089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254203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NumPy / Pandas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82512" y="2542032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Numerical ops &amp; data management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2916936"/>
            <a:ext cx="1508760" cy="31089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916936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LabelImg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82512" y="2916936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Manual bounding box annotation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3291840"/>
            <a:ext cx="1508760" cy="31089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291840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Roboflow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82512" y="329184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Dataset management &amp; augmentation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00600" y="3666744"/>
            <a:ext cx="1508760" cy="31089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66674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PyTorch + CUDA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82512" y="3666744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Deep learning training backend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0600" y="4041648"/>
            <a:ext cx="1508760" cy="31089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4041648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VS Code / Jupyter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82512" y="404164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Development environment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Development – YOLOv8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</a:rPr>
              <a:t>How YOLOv8 Works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divides the input image into a grid and predicts bounding boxes + class probabilities in a single forward pass. It uses a CSPDarknet backbone for feature extraction, a PANet neck for multi-scale feature fusion, and detection heads that output predictions at 3 scales (small, medium, large objects).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212848"/>
            <a:ext cx="146304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212848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640×640 px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2601468"/>
            <a:ext cx="210312" cy="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2212848"/>
            <a:ext cx="1463040" cy="77724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2212848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Backbone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CSPDarknet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2601468"/>
            <a:ext cx="210312" cy="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2212848"/>
            <a:ext cx="1463040" cy="777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58184" y="2212848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PANet/FPN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21224" y="2601468"/>
            <a:ext cx="210312" cy="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31536" y="2212848"/>
            <a:ext cx="1463040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2212848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 Heads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 Scales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94576" y="2601468"/>
            <a:ext cx="210312" cy="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4888" y="2212848"/>
            <a:ext cx="1463040" cy="777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04888" y="2212848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Post-process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15468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</a:rPr>
              <a:t>Model Configuration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538728"/>
            <a:ext cx="201168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3872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YOLO Version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3538728"/>
            <a:ext cx="2011680" cy="182880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353872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YOLOv8s (small)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39896"/>
            <a:ext cx="201168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3989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Classes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3739896"/>
            <a:ext cx="2011680" cy="182880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373989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2 (helmet, vest)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41064"/>
            <a:ext cx="201168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41064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Epochs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77440" y="3941064"/>
            <a:ext cx="2011680" cy="182880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3941064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50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142232"/>
            <a:ext cx="201168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4223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Batch Size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77440" y="4142232"/>
            <a:ext cx="2011680" cy="182880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0" y="414223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16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343400"/>
            <a:ext cx="201168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3434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Image Size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77440" y="4343400"/>
            <a:ext cx="2011680" cy="182880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43434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640 × 640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544568"/>
            <a:ext cx="201168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54456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Learning Rate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77440" y="4544568"/>
            <a:ext cx="2011680" cy="182880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454456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0.01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745736"/>
            <a:ext cx="201168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74573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Optimizer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377440" y="4745736"/>
            <a:ext cx="2011680" cy="182880"/>
          </a:xfrm>
          <a:prstGeom prst="rect">
            <a:avLst/>
          </a:prstGeom>
          <a:solidFill>
            <a:srgbClr val="EAF2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474573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Adam/SGD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315468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</a:rPr>
              <a:t>Loss Function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4846320" y="3538728"/>
            <a:ext cx="393192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3538728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📦 Box Loss – </a:t>
            </a:r>
            <a:r>
              <a:rPr lang="en-US" sz="1100" dirty="0">
                <a:solidFill>
                  <a:srgbClr val="1C2833"/>
                </a:solidFill>
              </a:rPr>
              <a:t>Bounding box coordinate accuracy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3995928"/>
            <a:ext cx="393192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995928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🏷 Class Loss – </a:t>
            </a:r>
            <a:r>
              <a:rPr lang="en-US" sz="1100" dirty="0">
                <a:solidFill>
                  <a:srgbClr val="1C2833"/>
                </a:solidFill>
              </a:rPr>
              <a:t>Object classification correctness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46320" y="4453128"/>
            <a:ext cx="393192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4453128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🎯 Obj Loss – </a:t>
            </a:r>
            <a:r>
              <a:rPr lang="en-US" sz="1100" dirty="0">
                <a:solidFill>
                  <a:srgbClr val="1C2833"/>
                </a:solidFill>
              </a:rPr>
              <a:t>Confidence of object presence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46320" y="4572000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17A8B"/>
                </a:solidFill>
              </a:rPr>
              <a:t>Total Loss = Box Loss + Classification Loss + Objectness Loss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Performance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08760" cy="11430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1508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Helmet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508760" cy="114300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00584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57400" y="1600200"/>
            <a:ext cx="1508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Helmet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960120"/>
            <a:ext cx="1508760" cy="11430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00584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94760" y="1600200"/>
            <a:ext cx="1508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960120"/>
            <a:ext cx="1508760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100584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532120" y="1600200"/>
            <a:ext cx="1508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Recall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960120"/>
            <a:ext cx="1508760" cy="1143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100584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0.88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69480" y="1600200"/>
            <a:ext cx="1508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@0.5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20040" y="2212848"/>
          <a:ext cx="51206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669280" y="2212848"/>
            <a:ext cx="3154680" cy="2514600"/>
          </a:xfrm>
          <a:prstGeom prst="rect">
            <a:avLst/>
          </a:prstGeom>
          <a:solidFill>
            <a:srgbClr val="EAF2FB"/>
          </a:solidFill>
          <a:ln w="1905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0" y="2212848"/>
            <a:ext cx="3154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2212848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Observations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760720" y="2606040"/>
            <a:ext cx="29718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mAP@0.5 = 0.683 (all classes)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Helmet detection: ~90% precision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No-vest detection: highest at 0.840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Vest class needs improvement (0.523)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Perfect precision at conf ≥ 0.976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Model converges well by 50 epochs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Competitive with SOTA literature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2491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24912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72491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Observations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Helmets detected reliably – ~90% precision due to distinct shape &amp; color.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Vest detection slightly lower – partial occlusion &amp; lighting variations.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successfully distinguishes compliant vs. non-compliant workers.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feasibility confirmed on GPU hardware.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2491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922B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24912" cy="41148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960120"/>
            <a:ext cx="272491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Challenges Faced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51460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diversity – most images were daytime, outdoor; lacked night/rain.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detections on similar-colored background objects (yellow objects).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GPU-intensive training – CPU inference was too slow for real-time use.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 – fewer vest samples vs. helmet samples.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2491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7A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0120"/>
            <a:ext cx="2724912" cy="4114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960120"/>
            <a:ext cx="272491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Improvements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51460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dataset with surveillance footage &amp; synthetic augmentation.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pose estimation to verify PPE worn correctly on head/torso.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on edge devices (NVIDIA Jetson Nano) for real-time CCTV use.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SMS/email alerts and an automated violation logging dashboard.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657600"/>
          </a:xfrm>
          <a:prstGeom prst="rect">
            <a:avLst/>
          </a:prstGeom>
          <a:solidFill>
            <a:srgbClr val="EAF2FB"/>
          </a:solidFill>
          <a:ln w="1905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40233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a deep learning PPE detection system using Python + YOLOv8.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accurately detects helmets and safety vests in real-world scenarios.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 Helmet Precision: 90%, Vest Precision: 85%, mAP: 0.88.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for 50 epochs — model converges efficiently with transfer learning.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detection reduces dependency on manual supervision.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generates standardized, timestamped violation logs for accountability.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comparable to recent published literature in PPE detection.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657600"/>
          </a:xfrm>
          <a:prstGeom prst="rect">
            <a:avLst/>
          </a:prstGeom>
          <a:solidFill>
            <a:srgbClr val="EAF2FB"/>
          </a:solidFill>
          <a:ln w="19050">
            <a:solidFill>
              <a:srgbClr val="117A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023360" cy="40233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Future 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84048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CCTV integration for continuous automated compliance monitoring.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 for site inspectors to scan workers on-the-go.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detection to gloves, masks, boots, safety harness.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Worker ID + tracking to log individual PPE violations.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integration – smart helmets, wearable sensors, alarm triggers.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deployment on NVIDIA Jetson Nano / Raspberry Pi.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Transformer-based architectures for better occlusion handling.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46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Lyallpur Khalsa College, Jalandhar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4846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5/5/2026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1371600" y="2029968"/>
            <a:ext cx="640080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Presented By: Yuvraj  |  Roll No: 11842326902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5D8DC"/>
                </a:solidFill>
              </a:rPr>
              <a:t>B.Voc (Software Development) – Semester VI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5D8DC"/>
                </a:solidFill>
              </a:rPr>
              <a:t>Supervised by: Dr. Daljit Kaur  |  Dept. of C</a:t>
            </a:r>
            <a:r>
              <a:rPr lang="en-IN" altLang="en-US" sz="1200" dirty="0">
                <a:solidFill>
                  <a:srgbClr val="D5D8DC"/>
                </a:solidFill>
              </a:rPr>
              <a:t>omputer </a:t>
            </a:r>
            <a:r>
              <a:rPr lang="en-US" sz="1200" dirty="0">
                <a:solidFill>
                  <a:srgbClr val="D5D8DC"/>
                </a:solidFill>
              </a:rPr>
              <a:t>S</a:t>
            </a:r>
            <a:r>
              <a:rPr lang="en-IN" altLang="en-US" sz="1200" dirty="0">
                <a:solidFill>
                  <a:srgbClr val="D5D8DC"/>
                </a:solidFill>
              </a:rPr>
              <a:t>cience</a:t>
            </a:r>
            <a:r>
              <a:rPr lang="en-US" sz="1200" dirty="0">
                <a:solidFill>
                  <a:srgbClr val="D5D8DC"/>
                </a:solidFill>
              </a:rPr>
              <a:t> &amp; IT, Lyallpur Khalsa College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39C12"/>
                </a:solidFill>
              </a:rPr>
              <a:t>Guru Nanak Dev University, Amritsar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0" y="3931920"/>
            <a:ext cx="4572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93192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PPE Detection – AI/ML Based Safety Monitoring System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5/5/2026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7074</Words>
  <Application>WPS Presentation</Application>
  <PresentationFormat>On-screen Show (16:9)</PresentationFormat>
  <Paragraphs>484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PPE Detection - Project Dissertation</dc:title>
  <dc:creator>Yuvraj</dc:creator>
  <dc:subject>PptxGenJS Presentation</dc:subject>
  <cp:lastModifiedBy>Yuvraj Chander</cp:lastModifiedBy>
  <cp:revision>3</cp:revision>
  <dcterms:created xsi:type="dcterms:W3CDTF">2026-05-05T02:27:00Z</dcterms:created>
  <dcterms:modified xsi:type="dcterms:W3CDTF">2026-05-06T07:31:04Z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6E85F163AA7A4A58BBBDCA2BE42A7DD2_12</vt:lpwstr>
  </property>
  <property fmtid="{D5CDD505-2E9C-101B-9397-08002B2CF9AE}" pid="3" name="KSOProductBuildVer">
    <vt:lpwstr>1033-12.1.0.25242</vt:lpwstr>
  </property>
</Properties>
</file>